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T Sans Narrow"/>
      <p:regular r:id="rId21"/>
      <p:bold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TSansNarrow-bold.fntdata"/><Relationship Id="rId21" Type="http://schemas.openxmlformats.org/officeDocument/2006/relationships/font" Target="fonts/PTSansNarrow-regular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1407ee68a_4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1407ee68a_4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1407ee68a_1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1407ee68a_1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407ee68a_1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1407ee68a_1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407ee68a_1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407ee68a_1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407ee68a_1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1407ee68a_1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1407ee68a_18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1407ee68a_18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1407ee68a_18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1407ee68a_1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1407ee68a_18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1407ee68a_18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1407ee68a_18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1407ee68a_18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1407ee68a_18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1407ee68a_18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47b153b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47b153b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47b153b6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47b153b6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47b153b6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47b153b6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47b153b6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47b153b6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660"/>
              <a:t>Parameter-Efficient Fine-Tuning for Visual Question Answering: A Comparative Study</a:t>
            </a:r>
            <a:endParaRPr sz="366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50" y="2813864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300"/>
              <a:t>CMPT 728 Deep Learning</a:t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300"/>
              <a:t>Sophia Yang &amp; Qingrui Li</a:t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300"/>
              <a:t>(301627219, 301400099)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&amp; Motivation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is VQA?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Image + Question → Answer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Challenge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Large models = billions of parameters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BLIP-2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ViLT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Full fine-tuning = Too expensive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Our Question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 </a:t>
            </a:r>
            <a:r>
              <a:rPr b="1" lang="en-GB" sz="2000"/>
              <a:t>Can we adapt large models efficiently?</a:t>
            </a:r>
            <a:endParaRPr b="1" sz="2000"/>
          </a:p>
        </p:txBody>
      </p:sp>
      <p:pic>
        <p:nvPicPr>
          <p:cNvPr id="74" name="Google Shape;74;p14" title="Screenshot 2026-03-19 at 17.31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975" y="1036475"/>
            <a:ext cx="5088824" cy="219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Model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BLIP-2 (OPT-2.7B): Bootstrapping Language-Image Pre-training with Frozen Image Encoders and Large Language Models</a:t>
            </a:r>
            <a:endParaRPr/>
          </a:p>
        </p:txBody>
      </p:sp>
      <p:pic>
        <p:nvPicPr>
          <p:cNvPr id="81" name="Google Shape;81;p15" title="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750" y="1959450"/>
            <a:ext cx="6030250" cy="285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Base Model: BLIP-2 (OPT-2.7B)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Frozen backbone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Train small modules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PEFT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LoRA → low-rank updates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Adapters → small 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IA³ → scaling vectors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VQA v2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Train: 30K | Test: 3K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Training Setup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3 epochs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Batch size: 2 × grad accum 4 → 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Optimizer: AdamW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40250" y="3729588"/>
            <a:ext cx="85206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00"/>
              <a:t>Note: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/>
              <a:t>• Apply answer normalization (e.g., “2 people” → “2”)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-GB" sz="1400"/>
              <a:t>• Improves baseline: +9.89%</a:t>
            </a:r>
            <a:endParaRPr sz="1400"/>
          </a:p>
        </p:txBody>
      </p:sp>
      <p:pic>
        <p:nvPicPr>
          <p:cNvPr id="94" name="Google Shape;94;p17" title="Screenshot 2026-03-20 at 15.09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" y="1320870"/>
            <a:ext cx="9144001" cy="225215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1902999" y="2770358"/>
            <a:ext cx="538500" cy="16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6956750" y="3106656"/>
            <a:ext cx="538500" cy="16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Takeaways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✅ LoRA = best accuracy-efficiency trade-off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⚖️ Adapters = good but heavier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⚡ IA³ = fastest bu</a:t>
            </a:r>
            <a:r>
              <a:rPr lang="en-GB">
                <a:solidFill>
                  <a:srgbClr val="695D46"/>
                </a:solidFill>
              </a:rPr>
              <a:t>t lower accuracy</a:t>
            </a:r>
            <a:endParaRPr>
              <a:solidFill>
                <a:srgbClr val="695D4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Limitations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Small training subset (30K)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Only tune language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Heuristic normalization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Future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More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Tune Q-Former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Combine PEFT methods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●"/>
            </a:pP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Goyal, Y. et al. (2017). </a:t>
            </a:r>
            <a:r>
              <a:rPr i="1"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Making the V in VQA Matter.</a:t>
            </a: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 (CVPR)</a:t>
            </a:r>
            <a:endParaRPr sz="13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●"/>
            </a:pP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Houlsby, N. et al. (2019). </a:t>
            </a:r>
            <a:r>
              <a:rPr i="1"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Parameter-Efficient Transfer Learning for NLP.</a:t>
            </a: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 (ICML)</a:t>
            </a:r>
            <a:endParaRPr sz="13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●"/>
            </a:pP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Hu, E. et al. (2022). </a:t>
            </a:r>
            <a:r>
              <a:rPr i="1"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LoRA: Low-Rank Adaptation of Large Language Models.</a:t>
            </a: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 (ICLR)</a:t>
            </a:r>
            <a:endParaRPr sz="13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●"/>
            </a:pP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Kabir, R. et al. (2024). </a:t>
            </a:r>
            <a:r>
              <a:rPr i="1"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Survey on VQA Datasets and Algorithms.</a:t>
            </a:r>
            <a:endParaRPr sz="13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●"/>
            </a:pP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Kim, W. et al. (2021). </a:t>
            </a:r>
            <a:r>
              <a:rPr i="1"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ViLT: Vision-and-Language Transformer without convolution or region supervision.</a:t>
            </a:r>
            <a:endParaRPr i="1" sz="13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000"/>
              <a:buChar char="●"/>
            </a:pP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Li, J. et al. (2023). </a:t>
            </a:r>
            <a:r>
              <a:rPr i="1"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BLIP-2: Bootstrapping Language-Image Pre-training with Frozen Encoders.</a:t>
            </a:r>
            <a:endParaRPr sz="13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Char char="●"/>
            </a:pP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Liu, H. et al. (2022). </a:t>
            </a:r>
            <a:r>
              <a:rPr i="1"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IA³: Efficient Fine-Tuning vs In-Context Learning.</a:t>
            </a:r>
            <a:r>
              <a:rPr lang="en-GB" sz="13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 (NeurIPS)</a:t>
            </a:r>
            <a:br>
              <a:rPr lang="en-GB" sz="11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695D4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!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Appendix: Why Normalization is Needed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266325"/>
            <a:ext cx="3700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Problem: Generative Output Mismatch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Model outputs: full sentences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VQA expects: short answers</a:t>
            </a:r>
            <a:endParaRPr/>
          </a:p>
        </p:txBody>
      </p:sp>
      <p:pic>
        <p:nvPicPr>
          <p:cNvPr id="121" name="Google Shape;121;p21" title="Screenshot 2026-03-20 at 15.44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951" y="998025"/>
            <a:ext cx="5156750" cy="39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Appendix: Normalization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202525"/>
            <a:ext cx="85206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Normalization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Remove repeated tokens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Truncate at punctuation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Extract numbers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Convert yes/no phrases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Lowercase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Effect on Baseline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Without normalization: 30.40%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With normalization: 40.29%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-GB" sz="1700"/>
              <a:t>+9.89%</a:t>
            </a:r>
            <a:r>
              <a:rPr lang="en-GB" sz="1700"/>
              <a:t> improvement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Appendix: Limitation of Normalization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Heuristic rules (not perfect)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May miss valid answers</a:t>
            </a:r>
            <a:endParaRPr sz="25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GB" sz="2100"/>
              <a:t>“tree branch” vs “branch” → score 0</a:t>
            </a:r>
            <a:endParaRPr sz="21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May under/overestimate accuracy</a:t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Appendix: LoRA (Low-Rank Adaptation)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Adds low-rank matrices to attention weights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Only trains small number of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Keeps original weights frozen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Good balance of performance and efficiency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Appendix: Adapters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Inserts small bottleneck layers into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Adds extra parameters per 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More flexible but heavier than LoRA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Appendix: IA³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Scales activations using learned vectors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Extremely parameter-efficient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Very lightweight but limited capacity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Appendix: Comparsion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 LoRA &gt; Adapters &gt; IA³ (in capacity)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 IA³ &gt; LoRA &gt; Adapters (in efficiency)”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